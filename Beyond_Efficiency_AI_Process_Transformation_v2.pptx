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263" y="4544568"/>
            <a:ext cx="4206240" cy="4206240"/>
          </a:xfrm>
          <a:prstGeom prst="rect">
            <a:avLst/>
          </a:prstGeom>
        </p:spPr>
      </p:pic>
      <p:pic>
        <p:nvPicPr>
          <p:cNvPr id="5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02920" y="21031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Efficiency: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AI-Driven Process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Transformation</a:t>
            </a:r>
            <a:endParaRPr lang="en-US" sz="4200" dirty="0"/>
          </a:p>
        </p:txBody>
      </p:sp>
      <p:sp>
        <p:nvSpPr>
          <p:cNvPr id="7" name="Text 1"/>
          <p:cNvSpPr/>
          <p:nvPr/>
        </p:nvSpPr>
        <p:spPr>
          <a:xfrm>
            <a:off x="50292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doing things faster to doing the right things</a:t>
            </a:r>
            <a:endParaRPr lang="en-US" sz="2000" dirty="0"/>
          </a:p>
        </p:txBody>
      </p:sp>
      <p:sp>
        <p:nvSpPr>
          <p:cNvPr id="8" name="Shape 2"/>
          <p:cNvSpPr/>
          <p:nvPr/>
        </p:nvSpPr>
        <p:spPr>
          <a:xfrm>
            <a:off x="502920" y="4297680"/>
            <a:ext cx="2368296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3"/>
          <p:cNvSpPr/>
          <p:nvPr/>
        </p:nvSpPr>
        <p:spPr>
          <a:xfrm>
            <a:off x="502920" y="42976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Leadership Briefing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50292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Tiger Analytics Inc. © 2026. All Rights Reserved.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356616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512064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Date: 29-JUN-2026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94944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Author: Tiger Analytics – Digital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548640" y="1389888"/>
            <a:ext cx="457200" cy="45720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5" name="Text 9"/>
          <p:cNvSpPr/>
          <p:nvPr/>
        </p:nvSpPr>
        <p:spPr>
          <a:xfrm>
            <a:off x="5486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77240" y="1874520"/>
            <a:ext cx="0" cy="27432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234440" y="1344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Efficiency Ceiling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20 years of process improvement left the hardest 60% of value untouched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0" name="Text 14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77240" y="2679192"/>
            <a:ext cx="0" cy="27432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2344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Expert's Brain, Decoded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344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 behavioral patterns, the Sense→Diagnose→Decide→Act cognitive loop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77240" y="3483864"/>
            <a:ext cx="0" cy="27432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234440" y="2953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Three-Layer Semantic Brain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23444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fragmented ERP tables to expert-grade AI features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4"/>
          <p:cNvSpPr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77240" y="4288536"/>
            <a:ext cx="0" cy="27432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234440" y="37581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Decision to Action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234440" y="40782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 DAGs, Saga Pattern, Human-in-the-Loop governance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77240" y="5093208"/>
            <a:ext cx="0" cy="27432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234440" y="4562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Discovery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1234440" y="4882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that finds Pattern #51 next quarter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1234440" y="5367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&amp; Attribution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1234440" y="5687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dollar recovered traces to a pattern and a decision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7772400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EBEE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808976" y="1481328"/>
            <a:ext cx="175564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5" name="Text 39"/>
          <p:cNvSpPr/>
          <p:nvPr/>
        </p:nvSpPr>
        <p:spPr>
          <a:xfrm>
            <a:off x="7772400" y="160020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$12M</a:t>
            </a:r>
            <a:endParaRPr lang="en-US" sz="2800" dirty="0"/>
          </a:p>
        </p:txBody>
      </p:sp>
      <p:sp>
        <p:nvSpPr>
          <p:cNvPr id="46" name="Text 40"/>
          <p:cNvSpPr/>
          <p:nvPr/>
        </p:nvSpPr>
        <p:spPr>
          <a:xfrm>
            <a:off x="7863840" y="209169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 write-offs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speed can't fix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9784080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8E1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9820656" y="1481328"/>
            <a:ext cx="175564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9" name="Text 43"/>
          <p:cNvSpPr/>
          <p:nvPr/>
        </p:nvSpPr>
        <p:spPr>
          <a:xfrm>
            <a:off x="9784080" y="160020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800" dirty="0"/>
          </a:p>
        </p:txBody>
      </p:sp>
      <p:sp>
        <p:nvSpPr>
          <p:cNvPr id="50" name="Text 44"/>
          <p:cNvSpPr/>
          <p:nvPr/>
        </p:nvSpPr>
        <p:spPr>
          <a:xfrm>
            <a:off x="9875520" y="209169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value left on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table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7772400" y="29260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E6F5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808976" y="2944368"/>
            <a:ext cx="175564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53" name="Text 47"/>
          <p:cNvSpPr/>
          <p:nvPr/>
        </p:nvSpPr>
        <p:spPr>
          <a:xfrm>
            <a:off x="7772400" y="306324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</a:t>
            </a:r>
            <a:endParaRPr lang="en-US" sz="2800" dirty="0"/>
          </a:p>
        </p:txBody>
      </p:sp>
      <p:sp>
        <p:nvSpPr>
          <p:cNvPr id="54" name="Text 48"/>
          <p:cNvSpPr/>
          <p:nvPr/>
        </p:nvSpPr>
        <p:spPr>
          <a:xfrm>
            <a:off x="7863840" y="355473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 behavioral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codified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9784080" y="29260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820656" y="2944368"/>
            <a:ext cx="175564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57" name="Text 51"/>
          <p:cNvSpPr/>
          <p:nvPr/>
        </p:nvSpPr>
        <p:spPr>
          <a:xfrm>
            <a:off x="9784080" y="306324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800" dirty="0"/>
          </a:p>
        </p:txBody>
      </p:sp>
      <p:sp>
        <p:nvSpPr>
          <p:cNvPr id="58" name="Text 52"/>
          <p:cNvSpPr/>
          <p:nvPr/>
        </p:nvSpPr>
        <p:spPr>
          <a:xfrm>
            <a:off x="9875520" y="355473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Semantic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Brain architecture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7772400" y="4389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808976" y="4407408"/>
            <a:ext cx="175564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1" name="Text 55"/>
          <p:cNvSpPr/>
          <p:nvPr/>
        </p:nvSpPr>
        <p:spPr>
          <a:xfrm>
            <a:off x="7772400" y="452628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12wk</a:t>
            </a:r>
            <a:endParaRPr lang="en-US" sz="2800" dirty="0"/>
          </a:p>
        </p:txBody>
      </p:sp>
      <p:sp>
        <p:nvSpPr>
          <p:cNvPr id="62" name="Text 56"/>
          <p:cNvSpPr/>
          <p:nvPr/>
        </p:nvSpPr>
        <p:spPr>
          <a:xfrm>
            <a:off x="7863840" y="501777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to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value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9784080" y="4389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8E1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9820656" y="4407408"/>
            <a:ext cx="175564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65" name="Text 59"/>
          <p:cNvSpPr/>
          <p:nvPr/>
        </p:nvSpPr>
        <p:spPr>
          <a:xfrm>
            <a:off x="9784080" y="452628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$8.4M+</a:t>
            </a:r>
            <a:endParaRPr lang="en-US" sz="2800" dirty="0"/>
          </a:p>
        </p:txBody>
      </p:sp>
      <p:sp>
        <p:nvSpPr>
          <p:cNvPr id="66" name="Text 60"/>
          <p:cNvSpPr/>
          <p:nvPr/>
        </p:nvSpPr>
        <p:spPr>
          <a:xfrm>
            <a:off x="9875520" y="501777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Year-1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Last 20 Years: We Optimized Speed. The Hardest Value Was Never Addressed.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502920" y="141732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90A4AE"/>
          </a:solidFill>
          <a:ln/>
        </p:spPr>
      </p:sp>
      <p:sp>
        <p:nvSpPr>
          <p:cNvPr id="15" name="Text 9"/>
          <p:cNvSpPr/>
          <p:nvPr/>
        </p:nvSpPr>
        <p:spPr>
          <a:xfrm>
            <a:off x="640080" y="1417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1990s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4630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Standardization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4630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 via system enforcement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02920" y="2057400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78909C"/>
          </a:solidFill>
          <a:ln/>
        </p:spPr>
      </p:sp>
      <p:sp>
        <p:nvSpPr>
          <p:cNvPr id="19" name="Text 13"/>
          <p:cNvSpPr/>
          <p:nvPr/>
        </p:nvSpPr>
        <p:spPr>
          <a:xfrm>
            <a:off x="64008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2000s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630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BPM / Lean / Six Sigma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46304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 via process discipline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2697480"/>
            <a:ext cx="6858000" cy="548640"/>
          </a:xfrm>
          <a:prstGeom prst="roundRect">
            <a:avLst>
              <a:gd name="adj" fmla="val 6667"/>
            </a:avLst>
          </a:prstGeom>
          <a:solidFill>
            <a:srgbClr val="607D8B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2010s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4630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RPA &amp; Workflow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46304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 via task automation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02920" y="3337560"/>
            <a:ext cx="8686800" cy="548640"/>
          </a:xfrm>
          <a:prstGeom prst="roundRect">
            <a:avLst>
              <a:gd name="adj" fmla="val 6667"/>
            </a:avLst>
          </a:prstGeom>
          <a:solidFill>
            <a:srgbClr val="455A64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2015+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46304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Mining &amp; Transformation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46304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 via X-Ray — shows what's broken, not how to fix it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2920" y="3977640"/>
            <a:ext cx="10515600" cy="548640"/>
          </a:xfrm>
          <a:prstGeom prst="roundRect">
            <a:avLst>
              <a:gd name="adj" fmla="val 6667"/>
            </a:avLst>
          </a:prstGeom>
          <a:solidFill>
            <a:srgbClr val="F08C1E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2020s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4630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- Cognitive Decisions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46304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EFFICACY via expert judgment - the AI Surgeon, not the X-Ray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858000" y="43891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EBEE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94576" y="4407408"/>
            <a:ext cx="477316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0"/>
          <p:cNvSpPr/>
          <p:nvPr/>
        </p:nvSpPr>
        <p:spPr>
          <a:xfrm>
            <a:off x="7040880" y="4526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Provocation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040880" y="48463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collections team processes 500 invoices/day 40% faster — but still writes off $12M/year.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Why? Junior analysts can't detect a customer running a deliberate delay tactic.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Speed didn't help. Expert judgment would have.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02920" y="493776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9496" y="4956048"/>
            <a:ext cx="587044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0" name="Text 34"/>
          <p:cNvSpPr/>
          <p:nvPr/>
        </p:nvSpPr>
        <p:spPr>
          <a:xfrm>
            <a:off x="685800" y="5029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8580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 = doing things faster.  Efficacy = doing the RIGHT things.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objective was always efficacy. Technology forced us to settle for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Data. Same Process. Vastly Different Outcomes.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50292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EBEE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39496" y="1389888"/>
            <a:ext cx="34472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Shape 10"/>
          <p:cNvSpPr/>
          <p:nvPr/>
        </p:nvSpPr>
        <p:spPr>
          <a:xfrm>
            <a:off x="640080" y="150876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7" name="Text 11"/>
          <p:cNvSpPr/>
          <p:nvPr/>
        </p:nvSpPr>
        <p:spPr>
          <a:xfrm>
            <a:off x="640080" y="15087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Fresher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517904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0-2 yrs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4008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They Do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Sees overdue invoice →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Sends standard dunning letter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77240" y="3383280"/>
            <a:ext cx="2926080" cy="0"/>
          </a:xfrm>
          <a:prstGeom prst="line">
            <a:avLst/>
          </a:prstGeom>
          <a:noFill/>
          <a:ln w="6350">
            <a:solidFill>
              <a:srgbClr val="C62828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6400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remains unpaid.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ignores.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8E1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79976" y="1389888"/>
            <a:ext cx="34472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0560" y="1508760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57F17"/>
          </a:solidFill>
          <a:ln/>
        </p:spPr>
      </p:sp>
      <p:sp>
        <p:nvSpPr>
          <p:cNvPr id="27" name="Text 21"/>
          <p:cNvSpPr/>
          <p:nvPr/>
        </p:nvSpPr>
        <p:spPr>
          <a:xfrm>
            <a:off x="4480560" y="150876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650992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5-10 yrs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48056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They Do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48056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Recognizes a pattern →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Escalates differently,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adjusts terms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617720" y="3383280"/>
            <a:ext cx="2926080" cy="0"/>
          </a:xfrm>
          <a:prstGeom prst="line">
            <a:avLst/>
          </a:prstGeom>
          <a:noFill/>
          <a:ln w="6350">
            <a:solidFill>
              <a:srgbClr val="F57F17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448056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48056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Partial recovery.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 value saved.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18388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220456" y="1389888"/>
            <a:ext cx="344728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Shape 30"/>
          <p:cNvSpPr/>
          <p:nvPr/>
        </p:nvSpPr>
        <p:spPr>
          <a:xfrm>
            <a:off x="8321040" y="150876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7" name="Text 31"/>
          <p:cNvSpPr/>
          <p:nvPr/>
        </p:nvSpPr>
        <p:spPr>
          <a:xfrm>
            <a:off x="8321040" y="15087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9125712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20-25 yrs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32104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They Do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832104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Instantly spots 'Approval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Musical Chairs' → Pins the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buyer, recovers $1.2M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8458200" y="3383280"/>
            <a:ext cx="2926080" cy="0"/>
          </a:xfrm>
          <a:prstGeom prst="line">
            <a:avLst/>
          </a:prstGeom>
          <a:noFill/>
          <a:ln w="6350">
            <a:solidFill>
              <a:srgbClr val="2E7D32"/>
            </a:solidFill>
            <a:prstDash val="dash"/>
          </a:ln>
        </p:spPr>
      </p:sp>
      <p:sp>
        <p:nvSpPr>
          <p:cNvPr id="42" name="Text 36"/>
          <p:cNvSpPr/>
          <p:nvPr/>
        </p:nvSpPr>
        <p:spPr>
          <a:xfrm>
            <a:off x="832104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832104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recovery.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disrupted.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39496" y="5458968"/>
            <a:ext cx="1108252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6" name="Text 40"/>
          <p:cNvSpPr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difference is not speed. It is cognitive depth. This AI solution gives every analyst the judgment of the 25-year expert.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30352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Expert's Brain,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Decoded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 Behavioral Patterns Cataloged from Expert Interviews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0292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9496" y="1389888"/>
            <a:ext cx="34472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Shape 10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Musical Chairs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97280" y="18745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19" name="Text 14"/>
          <p:cNvSpPr/>
          <p:nvPr/>
        </p:nvSpPr>
        <p:spPr>
          <a:xfrm>
            <a:off x="109728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828800" y="18745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1828800" y="18745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bounces between 3+ approvers in a circular loop to burn clock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29768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34256" y="1389888"/>
            <a:ext cx="34472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Shape 20"/>
          <p:cNvSpPr/>
          <p:nvPr/>
        </p:nvSpPr>
        <p:spPr>
          <a:xfrm>
            <a:off x="4434840" y="155448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6" name="Text 21"/>
          <p:cNvSpPr/>
          <p:nvPr/>
        </p:nvSpPr>
        <p:spPr>
          <a:xfrm>
            <a:off x="44348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920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29th-Day Dispute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892040" y="18745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29" name="Text 24"/>
          <p:cNvSpPr/>
          <p:nvPr/>
        </p:nvSpPr>
        <p:spPr>
          <a:xfrm>
            <a:off x="489204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623560" y="18745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31" name="Text 26"/>
          <p:cNvSpPr/>
          <p:nvPr/>
        </p:nvSpPr>
        <p:spPr>
          <a:xfrm>
            <a:off x="5623560" y="18745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43484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Manufactured dispute filed on day 27-30 of Net-30 terms for float extension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09244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129016" y="1389888"/>
            <a:ext cx="34472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5" name="Shape 30"/>
          <p:cNvSpPr/>
          <p:nvPr/>
        </p:nvSpPr>
        <p:spPr>
          <a:xfrm>
            <a:off x="8229600" y="1554480"/>
            <a:ext cx="365760" cy="36576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36" name="Text 31"/>
          <p:cNvSpPr/>
          <p:nvPr/>
        </p:nvSpPr>
        <p:spPr>
          <a:xfrm>
            <a:off x="82296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68680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Memo Hostage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686800" y="1874520"/>
            <a:ext cx="859536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39" name="Text 34"/>
          <p:cNvSpPr/>
          <p:nvPr/>
        </p:nvSpPr>
        <p:spPr>
          <a:xfrm>
            <a:off x="8686800" y="18745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Leverage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9637776" y="18745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57F17"/>
          </a:solidFill>
          <a:ln/>
        </p:spPr>
      </p:sp>
      <p:sp>
        <p:nvSpPr>
          <p:cNvPr id="41" name="Text 36"/>
          <p:cNvSpPr/>
          <p:nvPr/>
        </p:nvSpPr>
        <p:spPr>
          <a:xfrm>
            <a:off x="9637776" y="18745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822960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Withholds $500K citing a pending $12K credit memo. Ratio 10:1 is the tell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39496" y="3675888"/>
            <a:ext cx="34472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5" name="Shape 40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46" name="Text 41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109728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Friday Afternoon Slicing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1097280" y="41605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49" name="Text 44"/>
          <p:cNvSpPr/>
          <p:nvPr/>
        </p:nvSpPr>
        <p:spPr>
          <a:xfrm>
            <a:off x="1097280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1828800" y="4160520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F57F17"/>
          </a:solidFill>
          <a:ln/>
        </p:spPr>
      </p:sp>
      <p:sp>
        <p:nvSpPr>
          <p:cNvPr id="51" name="Text 46"/>
          <p:cNvSpPr/>
          <p:nvPr/>
        </p:nvSpPr>
        <p:spPr>
          <a:xfrm>
            <a:off x="1828800" y="416052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4008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Partial payments timed at week's end — shortfall hides in volume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4334256" y="3675888"/>
            <a:ext cx="34472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55" name="Shape 50"/>
          <p:cNvSpPr/>
          <p:nvPr/>
        </p:nvSpPr>
        <p:spPr>
          <a:xfrm>
            <a:off x="4434840" y="3840480"/>
            <a:ext cx="365760" cy="36576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56" name="Text 51"/>
          <p:cNvSpPr/>
          <p:nvPr/>
        </p:nvSpPr>
        <p:spPr>
          <a:xfrm>
            <a:off x="44348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2"/>
          <p:cNvSpPr/>
          <p:nvPr/>
        </p:nvSpPr>
        <p:spPr>
          <a:xfrm>
            <a:off x="489204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Black Hole</a:t>
            </a:r>
            <a:endParaRPr lang="en-US" sz="1300" dirty="0"/>
          </a:p>
        </p:txBody>
      </p:sp>
      <p:sp>
        <p:nvSpPr>
          <p:cNvPr id="58" name="Shape 53"/>
          <p:cNvSpPr/>
          <p:nvPr/>
        </p:nvSpPr>
        <p:spPr>
          <a:xfrm>
            <a:off x="4892040" y="41605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59" name="Text 54"/>
          <p:cNvSpPr/>
          <p:nvPr/>
        </p:nvSpPr>
        <p:spPr>
          <a:xfrm>
            <a:off x="4892040" y="41605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Avoidance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5916168" y="4160520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F57F17"/>
          </a:solidFill>
          <a:ln/>
        </p:spPr>
      </p:sp>
      <p:sp>
        <p:nvSpPr>
          <p:cNvPr id="61" name="Text 56"/>
          <p:cNvSpPr/>
          <p:nvPr/>
        </p:nvSpPr>
        <p:spPr>
          <a:xfrm>
            <a:off x="5916168" y="416052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443484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 enter buyer's AP portal and never progress. 'In process' forever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809244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8129016" y="3675888"/>
            <a:ext cx="34472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5" name="Shape 60"/>
          <p:cNvSpPr/>
          <p:nvPr/>
        </p:nvSpPr>
        <p:spPr>
          <a:xfrm>
            <a:off x="8229600" y="384048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6" name="Text 61"/>
          <p:cNvSpPr/>
          <p:nvPr/>
        </p:nvSpPr>
        <p:spPr>
          <a:xfrm>
            <a:off x="82296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67" name="Text 62"/>
          <p:cNvSpPr/>
          <p:nvPr/>
        </p:nvSpPr>
        <p:spPr>
          <a:xfrm>
            <a:off x="868680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Phantom PO</a:t>
            </a:r>
            <a:endParaRPr lang="en-US" sz="1300" dirty="0"/>
          </a:p>
        </p:txBody>
      </p:sp>
      <p:sp>
        <p:nvSpPr>
          <p:cNvPr id="68" name="Shape 63"/>
          <p:cNvSpPr/>
          <p:nvPr/>
        </p:nvSpPr>
        <p:spPr>
          <a:xfrm>
            <a:off x="8686800" y="41605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69" name="Text 64"/>
          <p:cNvSpPr/>
          <p:nvPr/>
        </p:nvSpPr>
        <p:spPr>
          <a:xfrm>
            <a:off x="8686800" y="41605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Avoidance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9710928" y="41605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1" name="Text 66"/>
          <p:cNvSpPr/>
          <p:nvPr/>
        </p:nvSpPr>
        <p:spPr>
          <a:xfrm>
            <a:off x="9710928" y="41605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822960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Claims PO was never received or doesn't match — despite delivery confirmation</a:t>
            </a:r>
            <a:endParaRPr lang="en-US" sz="1100" dirty="0"/>
          </a:p>
        </p:txBody>
      </p:sp>
      <p:sp>
        <p:nvSpPr>
          <p:cNvPr id="73" name="Text 68"/>
          <p:cNvSpPr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 patterns total — versioned, effective-dated, governed by SME panel. Each with pre-built Action DAG and sized financial impact.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Cognitive Loop: How Experts Actually Think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50292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1E5F8E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39496" y="1389888"/>
            <a:ext cx="248716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6" name="Shape 10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7" name="Text 11"/>
          <p:cNvSpPr/>
          <p:nvPr/>
        </p:nvSpPr>
        <p:spPr>
          <a:xfrm>
            <a:off x="13716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029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008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 the signal in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— dispute filed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day 29, vague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 code, no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 communication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08960" y="2926080"/>
            <a:ext cx="27432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338328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1E8E7E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419856" y="1389888"/>
            <a:ext cx="248716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3" name="Shape 17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4" name="Text 18"/>
          <p:cNvSpPr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33832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52044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the behavioral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tactic — this is 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'29th-Day Dispute,'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deliberate float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989320" y="2926080"/>
            <a:ext cx="27432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26364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00216" y="1389888"/>
            <a:ext cx="248716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30" name="Shape 24"/>
          <p:cNvSpPr/>
          <p:nvPr/>
        </p:nvSpPr>
        <p:spPr>
          <a:xfrm>
            <a:off x="7132320" y="1554480"/>
            <a:ext cx="640080" cy="64008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31" name="Text 25"/>
          <p:cNvSpPr/>
          <p:nvPr/>
        </p:nvSpPr>
        <p:spPr>
          <a:xfrm>
            <a:off x="7132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2636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40080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the counter-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 — demand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specific backup within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hours, do NOT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extend terms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869680" y="2926080"/>
            <a:ext cx="274320" cy="0"/>
          </a:xfrm>
          <a:prstGeom prst="line">
            <a:avLst/>
          </a:prstGeom>
          <a:noFill/>
          <a:ln w="19050">
            <a:solidFill>
              <a:srgbClr val="6D4B9C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914400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9180576" y="1389888"/>
            <a:ext cx="248716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2"/>
          <p:cNvSpPr/>
          <p:nvPr/>
        </p:nvSpPr>
        <p:spPr>
          <a:xfrm>
            <a:off x="100126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91440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28116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with precision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auto-request docs,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escalate to credit hold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no response, track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12 months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502920" y="49377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39496" y="4956048"/>
            <a:ext cx="541324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37"/>
          <p:cNvSpPr/>
          <p:nvPr/>
        </p:nvSpPr>
        <p:spPr>
          <a:xfrm>
            <a:off x="68580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a rules engine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8580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the operating system of expert judgment. Each pattern has a sized financial impact — the system prioritizes by value at risk. Counter-strategies are pre-built and governance-approved.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263640" y="49377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300216" y="4956048"/>
            <a:ext cx="532180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7" name="Text 41"/>
          <p:cNvSpPr/>
          <p:nvPr/>
        </p:nvSpPr>
        <p:spPr>
          <a:xfrm>
            <a:off x="6446520" y="5074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 Attribution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644652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learns which counter-strategies work for which customers and adapts. Every dollar recovered traces to a pattern and a decision. The playbook compounds.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30352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Three-Layer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 Brain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Fragmented ERP Tables to Expert-Grade AI Features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02920" y="137160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DE6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9496" y="1389888"/>
            <a:ext cx="1108252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15" name="Shape 10"/>
          <p:cNvSpPr/>
          <p:nvPr/>
        </p:nvSpPr>
        <p:spPr>
          <a:xfrm>
            <a:off x="685800" y="1536192"/>
            <a:ext cx="502920" cy="50292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16" name="Text 11"/>
          <p:cNvSpPr/>
          <p:nvPr/>
        </p:nvSpPr>
        <p:spPr>
          <a:xfrm>
            <a:off x="68580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3 — AI Features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1810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Dispute_Proximity  |  Historical_Win_Rate  |  Approval_Cycle_Count  |  Promise_Break_Count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371600" y="2103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Pre-calculated expert triggers that drive cognitive reasoning. The system sees what a 25-year expert has in their head.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288036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6F5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9496" y="2898648"/>
            <a:ext cx="1108252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3044952"/>
            <a:ext cx="502920" cy="50292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716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2 — Event Series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71600" y="33192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Posted → First Call → Promise-to-Pay → Dispute Filed → Payment Received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371600" y="3611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 timelines tracking velocity, acceleration, and rhythm of each transaction. Patterns emerge from the timeline.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080760" y="2679192"/>
            <a:ext cx="0" cy="18288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39496" y="4407408"/>
            <a:ext cx="1108252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0" name="Shape 25"/>
          <p:cNvSpPr/>
          <p:nvPr/>
        </p:nvSpPr>
        <p:spPr>
          <a:xfrm>
            <a:off x="685800" y="4553712"/>
            <a:ext cx="502920" cy="50292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31" name="Text 26"/>
          <p:cNvSpPr/>
          <p:nvPr/>
        </p:nvSpPr>
        <p:spPr>
          <a:xfrm>
            <a:off x="68580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37160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1 — Logical Mapping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71600" y="48280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BSEG  +  KNA1  +  BKPF  +  UDM_DISPUTE_CASE  →  Unified AR Record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1371600" y="51206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Translate fragmented SAP tables into unified business entities. Schema portable across ECC and S/4HANA.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080760" y="4187952"/>
            <a:ext cx="0" cy="18288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502920" y="576072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never sees raw tables — it sees business objects → timelines → cognitive triggers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Concrete Example: Invoice #4500012 · ACME Corp · $340,000 · Net-30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02920" y="12801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9496" y="1298448"/>
            <a:ext cx="358444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5" name="Shape 10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5156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Logical Mapping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BSID + KNA1 + UDM_DISPUTE_CASE → unified AR record with customer credit history, payment behavior, dispute track record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206240" y="2011680"/>
            <a:ext cx="32004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572000" y="128016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E6F5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08576" y="1298448"/>
            <a:ext cx="696772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2" name="Shape 17"/>
          <p:cNvSpPr/>
          <p:nvPr/>
        </p:nvSpPr>
        <p:spPr>
          <a:xfrm>
            <a:off x="4709160" y="1417320"/>
            <a:ext cx="320040" cy="32004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3" name="Text 18"/>
          <p:cNvSpPr/>
          <p:nvPr/>
        </p:nvSpPr>
        <p:spPr>
          <a:xfrm>
            <a:off x="47091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120640" y="13898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Series — Transaction Timeline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029200" y="1874520"/>
            <a:ext cx="164592" cy="164592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0" y="1947672"/>
            <a:ext cx="1143000" cy="0"/>
          </a:xfrm>
          <a:prstGeom prst="line">
            <a:avLst/>
          </a:prstGeom>
          <a:noFill/>
          <a:ln w="12700">
            <a:solidFill>
              <a:srgbClr val="1E8E7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4632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0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80060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Posted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355080" y="1874520"/>
            <a:ext cx="164592" cy="164592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30" name="Shape 25"/>
          <p:cNvSpPr/>
          <p:nvPr/>
        </p:nvSpPr>
        <p:spPr>
          <a:xfrm>
            <a:off x="6537960" y="1947672"/>
            <a:ext cx="1143000" cy="0"/>
          </a:xfrm>
          <a:prstGeom prst="line">
            <a:avLst/>
          </a:prstGeom>
          <a:noFill/>
          <a:ln w="12700">
            <a:solidFill>
              <a:srgbClr val="1E8E7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7220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15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12648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680960" y="1874520"/>
            <a:ext cx="164592" cy="164592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34" name="Shape 29"/>
          <p:cNvSpPr/>
          <p:nvPr/>
        </p:nvSpPr>
        <p:spPr>
          <a:xfrm>
            <a:off x="7863840" y="1947672"/>
            <a:ext cx="1143000" cy="0"/>
          </a:xfrm>
          <a:prstGeom prst="line">
            <a:avLst/>
          </a:prstGeom>
          <a:noFill/>
          <a:ln w="12700">
            <a:solidFill>
              <a:srgbClr val="1E8E7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49808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22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45236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Pay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9006840" y="1874520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8" name="Shape 33"/>
          <p:cNvSpPr/>
          <p:nvPr/>
        </p:nvSpPr>
        <p:spPr>
          <a:xfrm>
            <a:off x="9189720" y="1947672"/>
            <a:ext cx="114300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82396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28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877824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Broken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10332720" y="1874520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2" name="Text 37"/>
          <p:cNvSpPr/>
          <p:nvPr/>
        </p:nvSpPr>
        <p:spPr>
          <a:xfrm>
            <a:off x="1014984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29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10104120" y="2240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Dispute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Filed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502920" y="30175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DE6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39496" y="3035808"/>
            <a:ext cx="1103680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46" name="Shape 41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47" name="Text 42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105156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Features — Expert Triggers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822960" y="35204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68680" y="35387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0.97</a:t>
            </a:r>
            <a:endParaRPr lang="en-US" sz="1800" dirty="0"/>
          </a:p>
        </p:txBody>
      </p:sp>
      <p:sp>
        <p:nvSpPr>
          <p:cNvPr id="51" name="Text 46"/>
          <p:cNvSpPr/>
          <p:nvPr/>
        </p:nvSpPr>
        <p:spPr>
          <a:xfrm>
            <a:off x="155448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Dispute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Proximity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15544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29 of Net-30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3566160" y="35204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611880" y="35387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73%</a:t>
            </a:r>
            <a:endParaRPr lang="en-US" sz="1800" dirty="0"/>
          </a:p>
        </p:txBody>
      </p:sp>
      <p:sp>
        <p:nvSpPr>
          <p:cNvPr id="55" name="Text 50"/>
          <p:cNvSpPr/>
          <p:nvPr/>
        </p:nvSpPr>
        <p:spPr>
          <a:xfrm>
            <a:off x="429768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 Dispute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2976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 pattern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6309360" y="35204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355080" y="35387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0.98</a:t>
            </a:r>
            <a:endParaRPr lang="en-US" sz="1800" dirty="0"/>
          </a:p>
        </p:txBody>
      </p:sp>
      <p:sp>
        <p:nvSpPr>
          <p:cNvPr id="59" name="Text 54"/>
          <p:cNvSpPr/>
          <p:nvPr/>
        </p:nvSpPr>
        <p:spPr>
          <a:xfrm>
            <a:off x="704088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Resolution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Ratio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70408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Rarely substantive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9052560" y="35204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9098280" y="35387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0.12</a:t>
            </a:r>
            <a:endParaRPr lang="en-US" sz="1800" dirty="0"/>
          </a:p>
        </p:txBody>
      </p:sp>
      <p:sp>
        <p:nvSpPr>
          <p:cNvPr id="63" name="Text 58"/>
          <p:cNvSpPr/>
          <p:nvPr/>
        </p:nvSpPr>
        <p:spPr>
          <a:xfrm>
            <a:off x="978408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97840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Very vague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502920" y="457200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39496" y="4590288"/>
            <a:ext cx="1103680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7" name="Shape 62"/>
          <p:cNvSpPr/>
          <p:nvPr/>
        </p:nvSpPr>
        <p:spPr>
          <a:xfrm>
            <a:off x="685800" y="470916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8" name="Text 63"/>
          <p:cNvSpPr/>
          <p:nvPr/>
        </p:nvSpPr>
        <p:spPr>
          <a:xfrm>
            <a:off x="685800" y="4709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DIAGNOSIS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182880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91% Confidence</a:t>
            </a:r>
            <a:endParaRPr lang="en-US" sz="1200" dirty="0"/>
          </a:p>
        </p:txBody>
      </p:sp>
      <p:sp>
        <p:nvSpPr>
          <p:cNvPr id="70" name="Text 65"/>
          <p:cNvSpPr/>
          <p:nvPr/>
        </p:nvSpPr>
        <p:spPr>
          <a:xfrm>
            <a:off x="685800" y="5029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#2 — '29th-Day Dispute' detected. This is a manufactured dispute for float extension.</a:t>
            </a:r>
            <a:endParaRPr lang="en-US" sz="1300" dirty="0"/>
          </a:p>
        </p:txBody>
      </p:sp>
      <p:sp>
        <p:nvSpPr>
          <p:cNvPr id="71" name="Text 66"/>
          <p:cNvSpPr/>
          <p:nvPr/>
        </p:nvSpPr>
        <p:spPr>
          <a:xfrm>
            <a:off x="68580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Counter-strategy: Demand specific backup within 48 hours. Do not extend payment terms. Escalate to credit hold if no response within 72 hours.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the three-layer brain, this looks like a routine dispute. With it, the system sees what the expert sees — and acts before the float window opens.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5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7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Repository — The Expert's Playbook, Codified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914400"/>
                <a:gridCol w="640080"/>
                <a:gridCol w="301752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Pattern Name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Category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Detection Features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8C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Counter-Strategy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F08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Approval Musical Chairs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Delay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Approval_Cycle_Count, Dwell_Per_Approver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Pin economic buyer, skip chain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29th-Day Dispute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Delay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Dispute_Proximity, Reason_Specificity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Demand backup 48hrs, no extension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Credit Memo Hostage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Leverage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Withheld_To_Disputed_Ratio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Separate issues, fast-track memo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Friday Afternoon Slicing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Delay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Payment_Time_Cluster, Partial_Pay_Ratio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Same-day auto-match, alert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Phantom PO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Avoidance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Delivery_Confirmation, PO_Rejection_History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Evidence package (POD+PO+GR)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Portal Black Hole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Avoidance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Portal_Dwell_Time, Approval_Rate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Escalate after SLA breach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...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50+ patterns total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Versioned, governed by SME panel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Each with pre-built Action DAG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30352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Decision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Action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Brain and Hands Are Separated. The AI Decides. Pre-Built Blocks Execute.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 DAGs — Deterministic Execution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0292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E5F8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9496" y="1847088"/>
            <a:ext cx="184708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6" name="Text 11"/>
          <p:cNvSpPr/>
          <p:nvPr/>
        </p:nvSpPr>
        <p:spPr>
          <a:xfrm>
            <a:off x="54864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Ratio &gt; 5:1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468880" y="2240280"/>
            <a:ext cx="27432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274320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E8E7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779776" y="1847088"/>
            <a:ext cx="184708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0" name="Text 15"/>
          <p:cNvSpPr/>
          <p:nvPr/>
        </p:nvSpPr>
        <p:spPr>
          <a:xfrm>
            <a:off x="278892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Fast-Track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Memo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2240280"/>
            <a:ext cx="27432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98348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0056" y="1847088"/>
            <a:ext cx="184708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24" name="Text 19"/>
          <p:cNvSpPr/>
          <p:nvPr/>
        </p:nvSpPr>
        <p:spPr>
          <a:xfrm>
            <a:off x="502920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Valid: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FB75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49440" y="2240280"/>
            <a:ext cx="274320" cy="0"/>
          </a:xfrm>
          <a:prstGeom prst="line">
            <a:avLst/>
          </a:prstGeom>
          <a:noFill/>
          <a:ln w="19050">
            <a:solidFill>
              <a:srgbClr val="6D4B9C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22376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60336" y="1847088"/>
            <a:ext cx="184708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3"/>
          <p:cNvSpPr/>
          <p:nvPr/>
        </p:nvSpPr>
        <p:spPr>
          <a:xfrm>
            <a:off x="726948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189720" y="2240280"/>
            <a:ext cx="27432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46404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7F1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500616" y="1847088"/>
            <a:ext cx="18470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2" name="Text 27"/>
          <p:cNvSpPr/>
          <p:nvPr/>
        </p:nvSpPr>
        <p:spPr>
          <a:xfrm>
            <a:off x="950976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Review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02920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Credit Memo Hostage — each block is a tested, versioned, rollback-ready API call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Enterprise-Grade Governance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502920" y="3749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39496" y="3767328"/>
            <a:ext cx="248716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7" name="Shape 32"/>
          <p:cNvSpPr/>
          <p:nvPr/>
        </p:nvSpPr>
        <p:spPr>
          <a:xfrm>
            <a:off x="1417320" y="3886200"/>
            <a:ext cx="502920" cy="50292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38" name="Text 33"/>
          <p:cNvSpPr/>
          <p:nvPr/>
        </p:nvSpPr>
        <p:spPr>
          <a:xfrm>
            <a:off x="1417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↺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59436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Saga Pattern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94360" y="4800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multi-step DAG has compensating transactions. Step 3 fails → steps 2 &amp; 1 auto-rollback.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337560" y="3749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3374136" y="3767328"/>
            <a:ext cx="248716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43" name="Shape 38"/>
          <p:cNvSpPr/>
          <p:nvPr/>
        </p:nvSpPr>
        <p:spPr>
          <a:xfrm>
            <a:off x="4251960" y="3886200"/>
            <a:ext cx="502920" cy="50292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44" name="Text 39"/>
          <p:cNvSpPr/>
          <p:nvPr/>
        </p:nvSpPr>
        <p:spPr>
          <a:xfrm>
            <a:off x="4251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⟳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342900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Idempotent Retry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3429000" y="4800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Locked ERP records trigger wait-and-retry, not failure. No data corruption.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172200" y="3749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208776" y="3767328"/>
            <a:ext cx="248716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49" name="Shape 44"/>
          <p:cNvSpPr/>
          <p:nvPr/>
        </p:nvSpPr>
        <p:spPr>
          <a:xfrm>
            <a:off x="7086600" y="3886200"/>
            <a:ext cx="502920" cy="50292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50" name="Text 45"/>
          <p:cNvSpPr/>
          <p:nvPr/>
        </p:nvSpPr>
        <p:spPr>
          <a:xfrm>
            <a:off x="70866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⊕</a:t>
            </a:r>
            <a:endParaRPr lang="en-US" sz="1400" dirty="0"/>
          </a:p>
        </p:txBody>
      </p:sp>
      <p:sp>
        <p:nvSpPr>
          <p:cNvPr id="51" name="Text 46"/>
          <p:cNvSpPr/>
          <p:nvPr/>
        </p:nvSpPr>
        <p:spPr>
          <a:xfrm>
            <a:off x="626364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of Record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6263640" y="4800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remains the system of record — always. AI operates within SAP boundaries.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9006840" y="3749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9043416" y="3767328"/>
            <a:ext cx="248716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5" name="Shape 50"/>
          <p:cNvSpPr/>
          <p:nvPr/>
        </p:nvSpPr>
        <p:spPr>
          <a:xfrm>
            <a:off x="9921240" y="38862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6" name="Text 51"/>
          <p:cNvSpPr/>
          <p:nvPr/>
        </p:nvSpPr>
        <p:spPr>
          <a:xfrm>
            <a:off x="9921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⊘</a:t>
            </a:r>
            <a:endParaRPr lang="en-US" sz="1400" dirty="0"/>
          </a:p>
        </p:txBody>
      </p:sp>
      <p:sp>
        <p:nvSpPr>
          <p:cNvPr id="57" name="Text 52"/>
          <p:cNvSpPr/>
          <p:nvPr/>
        </p:nvSpPr>
        <p:spPr>
          <a:xfrm>
            <a:off x="909828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Hallucination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9098280" y="4800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Deterministic API blocks, not generated code. The AI never touches SAP without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Human-in-the-Loop by Default. Autonomous by Earned Trust.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02920" y="36576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9496" y="3675888"/>
            <a:ext cx="344728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5" name="Shape 10"/>
          <p:cNvSpPr/>
          <p:nvPr/>
        </p:nvSpPr>
        <p:spPr>
          <a:xfrm>
            <a:off x="640080" y="379476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1E5F8E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" y="37947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DEFAULT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008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1 — Assisted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5800" y="4572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AI detects the pattern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8580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AI assembles evidence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85800" y="5303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AI drafts action payload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85800" y="5669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AI queues for approval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5800" y="6035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Human clicks APPROVE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85800" y="6400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System executes DAG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97680" y="25603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6F5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334256" y="2578608"/>
            <a:ext cx="344728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6" name="Shape 21"/>
          <p:cNvSpPr/>
          <p:nvPr/>
        </p:nvSpPr>
        <p:spPr>
          <a:xfrm>
            <a:off x="4434840" y="2697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E8E7E"/>
          </a:solidFill>
          <a:ln/>
        </p:spPr>
      </p:sp>
      <p:sp>
        <p:nvSpPr>
          <p:cNvPr id="27" name="Text 22"/>
          <p:cNvSpPr/>
          <p:nvPr/>
        </p:nvSpPr>
        <p:spPr>
          <a:xfrm>
            <a:off x="4434840" y="2697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EARNED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43484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2 — Policy-Approved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480560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Standing authorization for low-risk, reversible actions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480560" y="3840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Policy versioned &amp; effective-dated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48056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CFO + Controller approve the POLICY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480560" y="4572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System applies automatically within bounds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48056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Audit trail for every execution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09244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129016" y="1389888"/>
            <a:ext cx="344728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Shape 31"/>
          <p:cNvSpPr/>
          <p:nvPr/>
        </p:nvSpPr>
        <p:spPr>
          <a:xfrm>
            <a:off x="8229600" y="150876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7" name="Text 32"/>
          <p:cNvSpPr/>
          <p:nvPr/>
        </p:nvSpPr>
        <p:spPr>
          <a:xfrm>
            <a:off x="8229600" y="15087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MATURE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22960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3 — Autonomous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275320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Full closed-loop execution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827532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Only after calibration proves accuracy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275320" y="3017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Outcome attribution validates every action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27532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Underperforming patterns flagged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27532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Rollback always available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27532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Cryptographic audit log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2286000" y="6355080"/>
            <a:ext cx="7589520" cy="-5093208"/>
          </a:xfrm>
          <a:prstGeom prst="line">
            <a:avLst/>
          </a:prstGeom>
          <a:noFill/>
          <a:ln w="19050">
            <a:solidFill>
              <a:srgbClr val="F08C1E"/>
            </a:solidFill>
            <a:prstDash val="solid"/>
            <a:tailEnd type="triangle"/>
          </a:ln>
        </p:spPr>
      </p:sp>
      <p:sp>
        <p:nvSpPr>
          <p:cNvPr id="46" name="Text 41"/>
          <p:cNvSpPr/>
          <p:nvPr/>
        </p:nvSpPr>
        <p:spPr>
          <a:xfrm>
            <a:off x="41148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builds over time →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30352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 Patterns Today. The System Finds #51 Next Quarter.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02920" y="13716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3EE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9496" y="1389888"/>
            <a:ext cx="344728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5" name="Shape 10"/>
          <p:cNvSpPr/>
          <p:nvPr/>
        </p:nvSpPr>
        <p:spPr>
          <a:xfrm>
            <a:off x="1828800" y="1554480"/>
            <a:ext cx="640080" cy="64008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6" name="Text 11"/>
          <p:cNvSpPr/>
          <p:nvPr/>
        </p:nvSpPr>
        <p:spPr>
          <a:xfrm>
            <a:off x="1828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0292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SIFT THE MATH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504188" y="2697480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1E5F8E"/>
          </a:solidFill>
          <a:ln/>
        </p:spPr>
      </p:sp>
      <p:sp>
        <p:nvSpPr>
          <p:cNvPr id="19" name="Text 14"/>
          <p:cNvSpPr/>
          <p:nvPr/>
        </p:nvSpPr>
        <p:spPr>
          <a:xfrm>
            <a:off x="1504188" y="269748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Isolation Forests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30632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 mathematical outliers in ERP payment velocity. An unexplained 18-day delay cluster appears in a segment that historically paid on Day 12.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52628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5F8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31520" y="4572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rule would catch this — it's a statistical anomaly signaling new behavior.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069080" y="3200400"/>
            <a:ext cx="22860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297680" y="13716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6F5F3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334256" y="1389888"/>
            <a:ext cx="344728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6" name="Shape 21"/>
          <p:cNvSpPr/>
          <p:nvPr/>
        </p:nvSpPr>
        <p:spPr>
          <a:xfrm>
            <a:off x="5623560" y="1554480"/>
            <a:ext cx="640080" cy="64008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7" name="Text 22"/>
          <p:cNvSpPr/>
          <p:nvPr/>
        </p:nvSpPr>
        <p:spPr>
          <a:xfrm>
            <a:off x="5623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429768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SIFT THE TEXT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298948" y="2697480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1E8E7E"/>
          </a:solidFill>
          <a:ln/>
        </p:spPr>
      </p:sp>
      <p:sp>
        <p:nvSpPr>
          <p:cNvPr id="30" name="Text 25"/>
          <p:cNvSpPr/>
          <p:nvPr/>
        </p:nvSpPr>
        <p:spPr>
          <a:xfrm>
            <a:off x="5298948" y="269748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Embeddings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434840" y="30632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 new semantic excuses from CRM notes, call logs, and emails. A sudden spike in 'ERP Migration' complaints across 14 customers in the same vertical.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452628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8E7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26280" y="4572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coordinated excuse pattern — not individual delays.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863840" y="3200400"/>
            <a:ext cx="22860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8092440" y="13716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DE6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129016" y="1389888"/>
            <a:ext cx="344728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37" name="Shape 32"/>
          <p:cNvSpPr/>
          <p:nvPr/>
        </p:nvSpPr>
        <p:spPr>
          <a:xfrm>
            <a:off x="9418320" y="1554480"/>
            <a:ext cx="640080" cy="64008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38" name="Text 33"/>
          <p:cNvSpPr/>
          <p:nvPr/>
        </p:nvSpPr>
        <p:spPr>
          <a:xfrm>
            <a:off x="9418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809244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9240012" y="269748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6D4B9C"/>
          </a:solidFill>
          <a:ln/>
        </p:spPr>
      </p:sp>
      <p:sp>
        <p:nvSpPr>
          <p:cNvPr id="41" name="Text 36"/>
          <p:cNvSpPr/>
          <p:nvPr/>
        </p:nvSpPr>
        <p:spPr>
          <a:xfrm>
            <a:off x="9240012" y="269748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Narrative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8229600" y="30632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 ONLY the anomalous data subset to the LLM. It translates math into business story: 'Candidate Pattern #52: Seasonal Treasury Squeeze.'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8229600" y="4526280"/>
            <a:ext cx="3246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D4B9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321040" y="4572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LLM explains; it does not hallucinate. Est. float gain: $4.2M.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02920" y="571500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pipeline runs continuously. The system doesn't just execute the playbook — it evolves the playbook.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Patterns Are Candidates, Not Conclusions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5029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Closed Loop: Discovery → Approval → Detection → Action → Outcome → Learning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0292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39496" y="1801368"/>
            <a:ext cx="344728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7" name="Shape 11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43000" y="1947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Candidate Pattern surfaces with statistical signal, text cluster, and LLM narrative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069080" y="2651760"/>
            <a:ext cx="22860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429768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334256" y="1801368"/>
            <a:ext cx="344728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4" name="Shape 18"/>
          <p:cNvSpPr/>
          <p:nvPr/>
        </p:nvSpPr>
        <p:spPr>
          <a:xfrm>
            <a:off x="4434840" y="1965960"/>
            <a:ext cx="411480" cy="41148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25" name="Text 19"/>
          <p:cNvSpPr/>
          <p:nvPr/>
        </p:nvSpPr>
        <p:spPr>
          <a:xfrm>
            <a:off x="44348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1947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3484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SME panel reviews: Is this real? Is it actionable? What's the counter-strategy?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863840" y="2651760"/>
            <a:ext cx="22860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09244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129016" y="1801368"/>
            <a:ext cx="344728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31" name="Shape 25"/>
          <p:cNvSpPr/>
          <p:nvPr/>
        </p:nvSpPr>
        <p:spPr>
          <a:xfrm>
            <a:off x="8229600" y="1965960"/>
            <a:ext cx="411480" cy="41148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732520" y="1947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822960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added to repository — versioned, effective-dated, scanning all customers in real-time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0292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39496" y="3904488"/>
            <a:ext cx="344728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1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114300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64008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Actions assembled and queued per governance model (HITL → Policy → Autonomous)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069080" y="4754880"/>
            <a:ext cx="2286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429768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334256" y="3904488"/>
            <a:ext cx="3447288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4" name="Shape 38"/>
          <p:cNvSpPr/>
          <p:nvPr/>
        </p:nvSpPr>
        <p:spPr>
          <a:xfrm>
            <a:off x="4434840" y="4069080"/>
            <a:ext cx="411480" cy="41148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45" name="Text 39"/>
          <p:cNvSpPr/>
          <p:nvPr/>
        </p:nvSpPr>
        <p:spPr>
          <a:xfrm>
            <a:off x="44348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493776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443484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Outcomes traced back — did the counter-strategy work? What was the recovery?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7863840" y="4754880"/>
            <a:ext cx="228600" cy="0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  <a:tailEnd type="triangle"/>
          </a:ln>
        </p:spPr>
      </p:sp>
      <p:sp>
        <p:nvSpPr>
          <p:cNvPr id="49" name="Shape 43"/>
          <p:cNvSpPr/>
          <p:nvPr/>
        </p:nvSpPr>
        <p:spPr>
          <a:xfrm>
            <a:off x="809244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8129016" y="3904488"/>
            <a:ext cx="34472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51" name="Shape 45"/>
          <p:cNvSpPr/>
          <p:nvPr/>
        </p:nvSpPr>
        <p:spPr>
          <a:xfrm>
            <a:off x="8229600" y="4069080"/>
            <a:ext cx="411480" cy="411480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52" name="Text 46"/>
          <p:cNvSpPr/>
          <p:nvPr/>
        </p:nvSpPr>
        <p:spPr>
          <a:xfrm>
            <a:off x="82296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873252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</a:t>
            </a:r>
            <a:endParaRPr lang="en-US" sz="1400" dirty="0"/>
          </a:p>
        </p:txBody>
      </p:sp>
      <p:sp>
        <p:nvSpPr>
          <p:cNvPr id="54" name="Text 48"/>
          <p:cNvSpPr/>
          <p:nvPr/>
        </p:nvSpPr>
        <p:spPr>
          <a:xfrm>
            <a:off x="822960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Calibrate confidence scores. Repository grows. The system compounds.</a:t>
            </a:r>
            <a:endParaRPr lang="en-US" sz="1100" dirty="0"/>
          </a:p>
        </p:txBody>
      </p:sp>
      <p:sp>
        <p:nvSpPr>
          <p:cNvPr id="55" name="Text 49"/>
          <p:cNvSpPr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 The cycle repeats — continuous improvement encoded in software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30352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Proving the Value: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Framework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KPIs Are Table Stakes. Business Outcomes Are the Scorecard.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50292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1 — KPIs (Necessary but Insufficient)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" y="17830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39496" y="1801368"/>
            <a:ext cx="193852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days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258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002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days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25296" y="26060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1" name="Text 16"/>
          <p:cNvSpPr/>
          <p:nvPr/>
        </p:nvSpPr>
        <p:spPr>
          <a:xfrm>
            <a:off x="1225296" y="2606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-22%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2926080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2788920" y="17830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825496" y="1801368"/>
            <a:ext cx="193852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5" name="Text 20"/>
          <p:cNvSpPr/>
          <p:nvPr/>
        </p:nvSpPr>
        <p:spPr>
          <a:xfrm>
            <a:off x="27889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CEI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2788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6118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8862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511296" y="26060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0" name="Text 25"/>
          <p:cNvSpPr/>
          <p:nvPr/>
        </p:nvSpPr>
        <p:spPr>
          <a:xfrm>
            <a:off x="3511296" y="2606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+25%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788920" y="2926080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7"/>
          <p:cNvSpPr/>
          <p:nvPr/>
        </p:nvSpPr>
        <p:spPr>
          <a:xfrm>
            <a:off x="5074920" y="17830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111496" y="1801368"/>
            <a:ext cx="193852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34" name="Text 29"/>
          <p:cNvSpPr/>
          <p:nvPr/>
        </p:nvSpPr>
        <p:spPr>
          <a:xfrm>
            <a:off x="50749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Auto-Match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074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35%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8978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1722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85%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760720" y="26060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9" name="Text 34"/>
          <p:cNvSpPr/>
          <p:nvPr/>
        </p:nvSpPr>
        <p:spPr>
          <a:xfrm>
            <a:off x="5760720" y="2606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+143%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074920" y="2926080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6"/>
          <p:cNvSpPr/>
          <p:nvPr/>
        </p:nvSpPr>
        <p:spPr>
          <a:xfrm>
            <a:off x="7360920" y="17830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397496" y="1801368"/>
            <a:ext cx="193852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38"/>
          <p:cNvSpPr/>
          <p:nvPr/>
        </p:nvSpPr>
        <p:spPr>
          <a:xfrm>
            <a:off x="73609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Dispute Time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7360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days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81838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84582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days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8083296" y="26060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8" name="Text 43"/>
          <p:cNvSpPr/>
          <p:nvPr/>
        </p:nvSpPr>
        <p:spPr>
          <a:xfrm>
            <a:off x="8083296" y="2606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-52%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7360920" y="2926080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5"/>
          <p:cNvSpPr/>
          <p:nvPr/>
        </p:nvSpPr>
        <p:spPr>
          <a:xfrm>
            <a:off x="9646920" y="17830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9683496" y="1801368"/>
            <a:ext cx="193852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52" name="Text 47"/>
          <p:cNvSpPr/>
          <p:nvPr/>
        </p:nvSpPr>
        <p:spPr>
          <a:xfrm>
            <a:off x="96469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Deduction Auto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646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0%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104698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Text 50"/>
          <p:cNvSpPr/>
          <p:nvPr/>
        </p:nvSpPr>
        <p:spPr>
          <a:xfrm>
            <a:off x="107442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40%+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10405872" y="2606040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7" name="Text 52"/>
          <p:cNvSpPr/>
          <p:nvPr/>
        </p:nvSpPr>
        <p:spPr>
          <a:xfrm>
            <a:off x="10405872" y="260604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9646920" y="2926080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502920" y="3566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2 — Business Outcomes (The Real Measure)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502920" y="40233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539496" y="4041648"/>
            <a:ext cx="248716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Shape 57"/>
          <p:cNvSpPr/>
          <p:nvPr/>
        </p:nvSpPr>
        <p:spPr>
          <a:xfrm>
            <a:off x="1371600" y="42062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3" name="Text 58"/>
          <p:cNvSpPr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</a:t>
            </a:r>
            <a:endParaRPr lang="en-US" sz="1400" dirty="0"/>
          </a:p>
        </p:txBody>
      </p:sp>
      <p:sp>
        <p:nvSpPr>
          <p:cNvPr id="64" name="Text 59"/>
          <p:cNvSpPr/>
          <p:nvPr/>
        </p:nvSpPr>
        <p:spPr>
          <a:xfrm>
            <a:off x="59436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Capital Released</a:t>
            </a:r>
            <a:endParaRPr lang="en-US" sz="1200" dirty="0"/>
          </a:p>
        </p:txBody>
      </p:sp>
      <p:sp>
        <p:nvSpPr>
          <p:cNvPr id="65" name="Text 60"/>
          <p:cNvSpPr/>
          <p:nvPr/>
        </p:nvSpPr>
        <p:spPr>
          <a:xfrm>
            <a:off x="59436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$XM — measured, attributed, auditable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3337560" y="40233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7" name="Shape 62"/>
          <p:cNvSpPr/>
          <p:nvPr/>
        </p:nvSpPr>
        <p:spPr>
          <a:xfrm>
            <a:off x="3374136" y="4041648"/>
            <a:ext cx="248716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68" name="Shape 63"/>
          <p:cNvSpPr/>
          <p:nvPr/>
        </p:nvSpPr>
        <p:spPr>
          <a:xfrm>
            <a:off x="4206240" y="4206240"/>
            <a:ext cx="548640" cy="548640"/>
          </a:xfrm>
          <a:prstGeom prst="ellipse">
            <a:avLst/>
          </a:prstGeom>
          <a:solidFill>
            <a:srgbClr val="1E8E7E"/>
          </a:solidFill>
          <a:ln/>
        </p:spPr>
      </p:sp>
      <p:sp>
        <p:nvSpPr>
          <p:cNvPr id="69" name="Text 64"/>
          <p:cNvSpPr/>
          <p:nvPr/>
        </p:nvSpPr>
        <p:spPr>
          <a:xfrm>
            <a:off x="4206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⊘</a:t>
            </a:r>
            <a:endParaRPr lang="en-US" sz="1400" dirty="0"/>
          </a:p>
        </p:txBody>
      </p:sp>
      <p:sp>
        <p:nvSpPr>
          <p:cNvPr id="70" name="Text 65"/>
          <p:cNvSpPr/>
          <p:nvPr/>
        </p:nvSpPr>
        <p:spPr>
          <a:xfrm>
            <a:off x="342900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Leakage Prevented</a:t>
            </a:r>
            <a:endParaRPr lang="en-US" sz="1200" dirty="0"/>
          </a:p>
        </p:txBody>
      </p:sp>
      <p:sp>
        <p:nvSpPr>
          <p:cNvPr id="71" name="Text 66"/>
          <p:cNvSpPr/>
          <p:nvPr/>
        </p:nvSpPr>
        <p:spPr>
          <a:xfrm>
            <a:off x="342900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$YM — deductions caught, disputes won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6172200" y="40233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6208776" y="4041648"/>
            <a:ext cx="248716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74" name="Shape 69"/>
          <p:cNvSpPr/>
          <p:nvPr/>
        </p:nvSpPr>
        <p:spPr>
          <a:xfrm>
            <a:off x="7040880" y="4206240"/>
            <a:ext cx="548640" cy="548640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75" name="Text 70"/>
          <p:cNvSpPr/>
          <p:nvPr/>
        </p:nvSpPr>
        <p:spPr>
          <a:xfrm>
            <a:off x="70408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400" dirty="0"/>
          </a:p>
        </p:txBody>
      </p:sp>
      <p:sp>
        <p:nvSpPr>
          <p:cNvPr id="76" name="Text 71"/>
          <p:cNvSpPr/>
          <p:nvPr/>
        </p:nvSpPr>
        <p:spPr>
          <a:xfrm>
            <a:off x="626364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Bad Debt Reduction</a:t>
            </a:r>
            <a:endParaRPr lang="en-US" sz="1200" dirty="0"/>
          </a:p>
        </p:txBody>
      </p:sp>
      <p:sp>
        <p:nvSpPr>
          <p:cNvPr id="77" name="Text 72"/>
          <p:cNvSpPr/>
          <p:nvPr/>
        </p:nvSpPr>
        <p:spPr>
          <a:xfrm>
            <a:off x="626364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$ZM — patterns detected before write-off</a:t>
            </a:r>
            <a:endParaRPr lang="en-US" sz="1000" dirty="0"/>
          </a:p>
        </p:txBody>
      </p:sp>
      <p:sp>
        <p:nvSpPr>
          <p:cNvPr id="78" name="Shape 73"/>
          <p:cNvSpPr/>
          <p:nvPr/>
        </p:nvSpPr>
        <p:spPr>
          <a:xfrm>
            <a:off x="9006840" y="40233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9" name="Shape 74"/>
          <p:cNvSpPr/>
          <p:nvPr/>
        </p:nvSpPr>
        <p:spPr>
          <a:xfrm>
            <a:off x="9043416" y="4041648"/>
            <a:ext cx="248716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80" name="Shape 75"/>
          <p:cNvSpPr/>
          <p:nvPr/>
        </p:nvSpPr>
        <p:spPr>
          <a:xfrm>
            <a:off x="9875520" y="4206240"/>
            <a:ext cx="548640" cy="548640"/>
          </a:xfrm>
          <a:prstGeom prst="ellipse">
            <a:avLst/>
          </a:prstGeom>
          <a:solidFill>
            <a:srgbClr val="6D4B9C"/>
          </a:solidFill>
          <a:ln/>
        </p:spPr>
      </p:sp>
      <p:sp>
        <p:nvSpPr>
          <p:cNvPr id="81" name="Text 76"/>
          <p:cNvSpPr/>
          <p:nvPr/>
        </p:nvSpPr>
        <p:spPr>
          <a:xfrm>
            <a:off x="9875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82" name="Text 77"/>
          <p:cNvSpPr/>
          <p:nvPr/>
        </p:nvSpPr>
        <p:spPr>
          <a:xfrm>
            <a:off x="909828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 Capacity Freed</a:t>
            </a:r>
            <a:endParaRPr lang="en-US" sz="1200" dirty="0"/>
          </a:p>
        </p:txBody>
      </p:sp>
      <p:sp>
        <p:nvSpPr>
          <p:cNvPr id="83" name="Text 78"/>
          <p:cNvSpPr/>
          <p:nvPr/>
        </p:nvSpPr>
        <p:spPr>
          <a:xfrm>
            <a:off x="909828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 FTE-hours redirected to strategic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5" name="Image 2" descr="/sessions/wonderful-upbeat-hopper/tiger-pptx/assets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8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Dollar Recovered Traces to a Pattern, a Decision, and an Action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Cumulative Value Trajectory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4846320"/>
            <a:ext cx="1051560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463040" y="466344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B0BEC5"/>
          </a:solidFill>
          <a:ln/>
        </p:spPr>
      </p:sp>
      <p:sp>
        <p:nvSpPr>
          <p:cNvPr id="16" name="Text 11"/>
          <p:cNvSpPr/>
          <p:nvPr/>
        </p:nvSpPr>
        <p:spPr>
          <a:xfrm>
            <a:off x="146304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E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63040" y="4892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M1-3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46304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931920" y="3749040"/>
            <a:ext cx="1645920" cy="1097280"/>
          </a:xfrm>
          <a:prstGeom prst="roundRect">
            <a:avLst>
              <a:gd name="adj" fmla="val 3333"/>
            </a:avLst>
          </a:prstGeom>
          <a:solidFill>
            <a:srgbClr val="1E8E7E"/>
          </a:solidFill>
          <a:ln/>
        </p:spPr>
      </p:sp>
      <p:sp>
        <p:nvSpPr>
          <p:cNvPr id="20" name="Text 15"/>
          <p:cNvSpPr/>
          <p:nvPr/>
        </p:nvSpPr>
        <p:spPr>
          <a:xfrm>
            <a:off x="39319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$2.1M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31920" y="4892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M4-6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93192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recoveries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00800" y="2834640"/>
            <a:ext cx="1645920" cy="2011680"/>
          </a:xfrm>
          <a:prstGeom prst="roundRect">
            <a:avLst>
              <a:gd name="adj" fmla="val 2222"/>
            </a:avLst>
          </a:prstGeom>
          <a:solidFill>
            <a:srgbClr val="1E5F8E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$5.2M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0" y="4892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M7-9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0080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Scaling patterns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869680" y="1920240"/>
            <a:ext cx="1645920" cy="2926080"/>
          </a:xfrm>
          <a:prstGeom prst="roundRect">
            <a:avLst>
              <a:gd name="adj" fmla="val 2222"/>
            </a:avLst>
          </a:prstGeom>
          <a:solidFill>
            <a:srgbClr val="2E7D32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$8.4M+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869680" y="4892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M10-12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86968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Compound gains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02920" y="557784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9496" y="5596128"/>
            <a:ext cx="1103680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28"/>
          <p:cNvSpPr/>
          <p:nvPr/>
        </p:nvSpPr>
        <p:spPr>
          <a:xfrm>
            <a:off x="68580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Q1 Contributors:  Pattern #2 (29th-Day Dispute) → $1.8M across 23 customers  |  Pattern #6 (Credit Memo Hostage) → $1.1M  |  Pattern #1 (Musical Chairs) → $890K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corner_bl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" y="-164592"/>
            <a:ext cx="566928" cy="566928"/>
          </a:xfrm>
          <a:prstGeom prst="rect">
            <a:avLst/>
          </a:prstGeom>
        </p:spPr>
      </p:pic>
      <p:pic>
        <p:nvPicPr>
          <p:cNvPr id="3" name="Image 1" descr="/sessions/wonderful-upbeat-hopper/tiger-pptx/assets/halftone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" cy="960120"/>
          </a:xfrm>
          <a:prstGeom prst="rect">
            <a:avLst/>
          </a:prstGeom>
        </p:spPr>
      </p:pic>
      <p:pic>
        <p:nvPicPr>
          <p:cNvPr id="4" name="Image 2" descr="/sessions/wonderful-upbeat-hopper/tiger-pptx/assets/arc_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-1261872"/>
            <a:ext cx="4206240" cy="4206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08C1E"/>
          </a:solidFill>
          <a:ln/>
        </p:spPr>
      </p:sp>
      <p:pic>
        <p:nvPicPr>
          <p:cNvPr id="6" name="Image 3" descr="/sessions/wonderful-upbeat-hopper/tiger-pptx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505895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1155161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9" name="Shape 3"/>
          <p:cNvSpPr/>
          <p:nvPr/>
        </p:nvSpPr>
        <p:spPr>
          <a:xfrm>
            <a:off x="1162019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0" name="Shape 4"/>
          <p:cNvSpPr/>
          <p:nvPr/>
        </p:nvSpPr>
        <p:spPr>
          <a:xfrm>
            <a:off x="1168877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1" name="Shape 5"/>
          <p:cNvSpPr/>
          <p:nvPr/>
        </p:nvSpPr>
        <p:spPr>
          <a:xfrm>
            <a:off x="1175735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2" name="Shape 6"/>
          <p:cNvSpPr/>
          <p:nvPr/>
        </p:nvSpPr>
        <p:spPr>
          <a:xfrm>
            <a:off x="11825935" y="6702552"/>
            <a:ext cx="41148" cy="4114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3" name="Text 7"/>
          <p:cNvSpPr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Efficacy Subsumes Efficiency. The Right Decision Makes Everything Faster.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Unified Loop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36576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1E5F8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02336" y="1801368"/>
            <a:ext cx="157276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7" name="Text 11"/>
          <p:cNvSpPr/>
          <p:nvPr/>
        </p:nvSpPr>
        <p:spPr>
          <a:xfrm>
            <a:off x="36576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2057400" y="2258568"/>
            <a:ext cx="228600" cy="0"/>
          </a:xfrm>
          <a:prstGeom prst="line">
            <a:avLst/>
          </a:prstGeom>
          <a:noFill/>
          <a:ln w="19050">
            <a:solidFill>
              <a:srgbClr val="1E5F8E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228600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1E8E7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322576" y="1801368"/>
            <a:ext cx="1572768" cy="54864"/>
          </a:xfrm>
          <a:prstGeom prst="rect">
            <a:avLst/>
          </a:prstGeom>
          <a:solidFill>
            <a:srgbClr val="1E8E7E"/>
          </a:solidFill>
          <a:ln/>
        </p:spPr>
      </p:sp>
      <p:sp>
        <p:nvSpPr>
          <p:cNvPr id="21" name="Text 15"/>
          <p:cNvSpPr/>
          <p:nvPr/>
        </p:nvSpPr>
        <p:spPr>
          <a:xfrm>
            <a:off x="228600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3-Layer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8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Brain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977640" y="2258568"/>
            <a:ext cx="22860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20624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6D4B9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42816" y="1801368"/>
            <a:ext cx="1572768" cy="54864"/>
          </a:xfrm>
          <a:prstGeom prst="rect">
            <a:avLst/>
          </a:prstGeom>
          <a:solidFill>
            <a:srgbClr val="6D4B9C"/>
          </a:solidFill>
          <a:ln/>
        </p:spPr>
      </p:sp>
      <p:sp>
        <p:nvSpPr>
          <p:cNvPr id="25" name="Text 19"/>
          <p:cNvSpPr/>
          <p:nvPr/>
        </p:nvSpPr>
        <p:spPr>
          <a:xfrm>
            <a:off x="420624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Cognitive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D4B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897880" y="2258568"/>
            <a:ext cx="228600" cy="0"/>
          </a:xfrm>
          <a:prstGeom prst="line">
            <a:avLst/>
          </a:prstGeom>
          <a:noFill/>
          <a:ln w="19050">
            <a:solidFill>
              <a:srgbClr val="6D4B9C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12648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163056" y="1801368"/>
            <a:ext cx="157276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DAGs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18120" y="2258568"/>
            <a:ext cx="2286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04672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08C1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083296" y="1801368"/>
            <a:ext cx="157276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33" name="Text 27"/>
          <p:cNvSpPr/>
          <p:nvPr/>
        </p:nvSpPr>
        <p:spPr>
          <a:xfrm>
            <a:off x="804672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738360" y="2258568"/>
            <a:ext cx="228600" cy="0"/>
          </a:xfrm>
          <a:prstGeom prst="line">
            <a:avLst/>
          </a:prstGeom>
          <a:noFill/>
          <a:ln w="19050">
            <a:solidFill>
              <a:srgbClr val="F08C1E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996696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1A237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003536" y="1801368"/>
            <a:ext cx="1572768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7" name="Text 31"/>
          <p:cNvSpPr/>
          <p:nvPr/>
        </p:nvSpPr>
        <p:spPr>
          <a:xfrm>
            <a:off x="9966960" y="1828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02920" y="2880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↺ Each cycle: new patterns discovered, counter-strategies calibrated, value compounds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02920" y="3383280"/>
            <a:ext cx="11155680" cy="27432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9496" y="3401568"/>
            <a:ext cx="1108252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41" name="Text 35"/>
          <p:cNvSpPr/>
          <p:nvPr/>
        </p:nvSpPr>
        <p:spPr>
          <a:xfrm>
            <a:off x="685800" y="3520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Accelerator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68580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22376" y="3995928"/>
            <a:ext cx="50474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44" name="Text 38"/>
          <p:cNvSpPr/>
          <p:nvPr/>
        </p:nvSpPr>
        <p:spPr>
          <a:xfrm>
            <a:off x="777240" y="4023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3200" dirty="0"/>
          </a:p>
        </p:txBody>
      </p:sp>
      <p:sp>
        <p:nvSpPr>
          <p:cNvPr id="45" name="Text 39"/>
          <p:cNvSpPr/>
          <p:nvPr/>
        </p:nvSpPr>
        <p:spPr>
          <a:xfrm>
            <a:off x="16916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Pre-Built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169164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 patterns, 3-layer brain, Action DAG library, discovery engine, ROI attribution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17220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208776" y="3995928"/>
            <a:ext cx="5047488" cy="54864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9" name="Text 43"/>
          <p:cNvSpPr/>
          <p:nvPr/>
        </p:nvSpPr>
        <p:spPr>
          <a:xfrm>
            <a:off x="6263640" y="4023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5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3200" dirty="0"/>
          </a:p>
        </p:txBody>
      </p:sp>
      <p:sp>
        <p:nvSpPr>
          <p:cNvPr id="50" name="Text 44"/>
          <p:cNvSpPr/>
          <p:nvPr/>
        </p:nvSpPr>
        <p:spPr>
          <a:xfrm>
            <a:off x="71780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Customized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717804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SAP instance, customers, credit policies, approval hierarchies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85800" y="5120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22376" y="5138928"/>
            <a:ext cx="23042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54" name="Text 48"/>
          <p:cNvSpPr/>
          <p:nvPr/>
        </p:nvSpPr>
        <p:spPr>
          <a:xfrm>
            <a:off x="77724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12–16 wk</a:t>
            </a:r>
            <a:endParaRPr lang="en-US" sz="1600" dirty="0"/>
          </a:p>
        </p:txBody>
      </p:sp>
      <p:sp>
        <p:nvSpPr>
          <p:cNvPr id="55" name="Text 49"/>
          <p:cNvSpPr/>
          <p:nvPr/>
        </p:nvSpPr>
        <p:spPr>
          <a:xfrm>
            <a:off x="77724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3429000" y="5120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3465576" y="5138928"/>
            <a:ext cx="23042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58" name="Text 52"/>
          <p:cNvSpPr/>
          <p:nvPr/>
        </p:nvSpPr>
        <p:spPr>
          <a:xfrm>
            <a:off x="352044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Client-Owned</a:t>
            </a:r>
            <a:endParaRPr lang="en-US" sz="1600" dirty="0"/>
          </a:p>
        </p:txBody>
      </p:sp>
      <p:sp>
        <p:nvSpPr>
          <p:cNvPr id="59" name="Text 53"/>
          <p:cNvSpPr/>
          <p:nvPr/>
        </p:nvSpPr>
        <p:spPr>
          <a:xfrm>
            <a:off x="352044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 Ownership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172200" y="5120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208776" y="5138928"/>
            <a:ext cx="23042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62" name="Text 56"/>
          <p:cNvSpPr/>
          <p:nvPr/>
        </p:nvSpPr>
        <p:spPr>
          <a:xfrm>
            <a:off x="626364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SaaS</a:t>
            </a:r>
            <a:endParaRPr lang="en-US" sz="1600" dirty="0"/>
          </a:p>
        </p:txBody>
      </p:sp>
      <p:sp>
        <p:nvSpPr>
          <p:cNvPr id="63" name="Text 57"/>
          <p:cNvSpPr/>
          <p:nvPr/>
        </p:nvSpPr>
        <p:spPr>
          <a:xfrm>
            <a:off x="626364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Lock-in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8915400" y="5120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8951976" y="5138928"/>
            <a:ext cx="2304288" cy="54864"/>
          </a:xfrm>
          <a:prstGeom prst="rect">
            <a:avLst/>
          </a:prstGeom>
          <a:solidFill>
            <a:srgbClr val="F08C1E"/>
          </a:solidFill>
          <a:ln/>
        </p:spPr>
      </p:sp>
      <p:sp>
        <p:nvSpPr>
          <p:cNvPr id="66" name="Text 60"/>
          <p:cNvSpPr/>
          <p:nvPr/>
        </p:nvSpPr>
        <p:spPr>
          <a:xfrm>
            <a:off x="900684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Tiger DNA</a:t>
            </a:r>
            <a:endParaRPr lang="en-US" sz="1600" dirty="0"/>
          </a:p>
        </p:txBody>
      </p:sp>
      <p:sp>
        <p:nvSpPr>
          <p:cNvPr id="67" name="Text 61"/>
          <p:cNvSpPr/>
          <p:nvPr/>
        </p:nvSpPr>
        <p:spPr>
          <a:xfrm>
            <a:off x="900684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 Engine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onderful-upbeat-hopper/tiger-pptx/assets/arc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8263" y="4544568"/>
            <a:ext cx="4206240" cy="4206240"/>
          </a:xfrm>
          <a:prstGeom prst="rect">
            <a:avLst/>
          </a:prstGeom>
        </p:spPr>
      </p:pic>
      <p:pic>
        <p:nvPicPr>
          <p:cNvPr id="3" name="Image 1" descr="/sessions/wonderful-upbeat-hopper/tiger-pptx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92608"/>
            <a:ext cx="1417320" cy="59398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8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58368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Efficiency — AI-Driven Process Transformation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8368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tigeranalytics.com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Tiger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Efficiency — AI-Driven Process Transformation</dc:title>
  <dc:subject>PptxGenJS Presentation</dc:subject>
  <dc:creator>Tiger Analytics</dc:creator>
  <cp:lastModifiedBy>Tiger Analytics</cp:lastModifiedBy>
  <cp:revision>1</cp:revision>
  <dcterms:created xsi:type="dcterms:W3CDTF">2026-06-29T04:38:26Z</dcterms:created>
  <dcterms:modified xsi:type="dcterms:W3CDTF">2026-06-29T04:38:26Z</dcterms:modified>
</cp:coreProperties>
</file>